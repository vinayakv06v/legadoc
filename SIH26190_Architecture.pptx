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03120"/>
            <a:ext cx="5486400" cy="5486400"/>
          </a:xfrm>
          <a:prstGeom prst="ellipse">
            <a:avLst/>
          </a:prstGeom>
          <a:solidFill>
            <a:srgbClr val="121D33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572000"/>
            <a:ext cx="4114800" cy="4114800"/>
          </a:xfrm>
          <a:prstGeom prst="ellipse">
            <a:avLst/>
          </a:prstGeom>
          <a:solidFill>
            <a:srgbClr val="3F5C82"/>
          </a:solidFill>
          <a:ln/>
        </p:spPr>
      </p:sp>
      <p:sp>
        <p:nvSpPr>
          <p:cNvPr id="4" name="Shape 2"/>
          <p:cNvSpPr/>
          <p:nvPr/>
        </p:nvSpPr>
        <p:spPr>
          <a:xfrm>
            <a:off x="-2011680" y="4572000"/>
            <a:ext cx="4114800" cy="4114800"/>
          </a:xfrm>
          <a:prstGeom prst="ellipse">
            <a:avLst/>
          </a:prstGeom>
          <a:solidFill>
            <a:srgbClr val="3F5C82">
              <a:alpha val="4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SIH26190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Digital Document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System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1605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Design — v2  ·  Multi-Org Case, Evidence, Bail &amp; Audit Platform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Build Review  ·  Blockchain-anchored tamper evidence  ·  AI-assisted redaction  ·  Zero external SaaS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SCOPE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system, five kinds of institution, one criminal case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· Forensic labs · Hospitals · Courts · External verifiers (Bank / Telecom / RTO) all touch the same case record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377440"/>
            <a:ext cx="1843430" cy="1051560"/>
          </a:xfrm>
          <a:prstGeom prst="roundRect">
            <a:avLst>
              <a:gd name="adj" fmla="val 6087"/>
            </a:avLst>
          </a:prstGeom>
          <a:solidFill>
            <a:srgbClr val="3F5C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2450592"/>
            <a:ext cx="169712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3154680"/>
            <a:ext cx="16971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666390" y="2903220"/>
            <a:ext cx="256032" cy="0"/>
          </a:xfrm>
          <a:prstGeom prst="line">
            <a:avLst/>
          </a:prstGeom>
          <a:noFill/>
          <a:ln w="22225">
            <a:solidFill>
              <a:srgbClr val="6B7A9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922422" y="2377440"/>
            <a:ext cx="1843430" cy="1051560"/>
          </a:xfrm>
          <a:prstGeom prst="roundRect">
            <a:avLst>
              <a:gd name="adj" fmla="val 6087"/>
            </a:avLst>
          </a:prstGeom>
          <a:solidFill>
            <a:srgbClr val="3F5C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95574" y="2450592"/>
            <a:ext cx="169712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995574" y="3154680"/>
            <a:ext cx="16971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Evidence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65853" y="2903220"/>
            <a:ext cx="256032" cy="0"/>
          </a:xfrm>
          <a:prstGeom prst="line">
            <a:avLst/>
          </a:prstGeom>
          <a:noFill/>
          <a:ln w="22225">
            <a:solidFill>
              <a:srgbClr val="6B7A9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021885" y="2377440"/>
            <a:ext cx="1843430" cy="1051560"/>
          </a:xfrm>
          <a:prstGeom prst="roundRect">
            <a:avLst>
              <a:gd name="adj" fmla="val 6087"/>
            </a:avLst>
          </a:prstGeom>
          <a:solidFill>
            <a:srgbClr val="C9A22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95037" y="2450592"/>
            <a:ext cx="169712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Bail Track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095037" y="3154680"/>
            <a:ext cx="16971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(independent)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865315" y="2903220"/>
            <a:ext cx="256032" cy="0"/>
          </a:xfrm>
          <a:prstGeom prst="line">
            <a:avLst/>
          </a:prstGeom>
          <a:noFill/>
          <a:ln w="22225">
            <a:solidFill>
              <a:srgbClr val="6B7A9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121347" y="2377440"/>
            <a:ext cx="1843430" cy="1051560"/>
          </a:xfrm>
          <a:prstGeom prst="roundRect">
            <a:avLst>
              <a:gd name="adj" fmla="val 6087"/>
            </a:avLst>
          </a:prstGeom>
          <a:solidFill>
            <a:srgbClr val="3F5C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94499" y="2450592"/>
            <a:ext cx="169712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Sheet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194499" y="3154680"/>
            <a:ext cx="16971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Filing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964778" y="2903220"/>
            <a:ext cx="256032" cy="0"/>
          </a:xfrm>
          <a:prstGeom prst="line">
            <a:avLst/>
          </a:prstGeom>
          <a:noFill/>
          <a:ln w="22225">
            <a:solidFill>
              <a:srgbClr val="6B7A99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220810" y="2377440"/>
            <a:ext cx="1843430" cy="1051560"/>
          </a:xfrm>
          <a:prstGeom prst="roundRect">
            <a:avLst>
              <a:gd name="adj" fmla="val 6087"/>
            </a:avLst>
          </a:prstGeom>
          <a:solidFill>
            <a:srgbClr val="3F5C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293962" y="2450592"/>
            <a:ext cx="169712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293962" y="3154680"/>
            <a:ext cx="16971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Disposition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3520440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and Bail run on two independent timelines — neither blocks the other (see slide on concurrent tracks)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4160520"/>
            <a:ext cx="10332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document carries a field-level sensitivity schema — role-based redaction, decided by config, not by a model guessing at runtime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state-changing action (upload, evidence submission, bail order, judgment) is hash-chained to a permissioned blockchain ledger for tamper evidence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encryption, RBAC, and append-only audit logging sit underneath all of it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MVP scope by conscious choice: POCSO/juvenile pathways, appeals, multi-jurisdiction transfer, compensation tracking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TIER &amp; CONSTRAINTS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a judged demo — with a clear path to real scale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423160" cy="1371600"/>
          </a:xfrm>
          <a:prstGeom prst="roundRect">
            <a:avLst>
              <a:gd name="adj" fmla="val 5333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75688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wk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5351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demoable build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47288" y="1965960"/>
            <a:ext cx="2423160" cy="1371600"/>
          </a:xfrm>
          <a:prstGeom prst="roundRect">
            <a:avLst>
              <a:gd name="adj" fmla="val 5333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47288" y="2075688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538728" y="295351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team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71616" y="1965960"/>
            <a:ext cx="2423160" cy="1371600"/>
          </a:xfrm>
          <a:prstGeom prst="roundRect">
            <a:avLst>
              <a:gd name="adj" fmla="val 5333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71616" y="2075688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163056" y="295351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types mapped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695944" y="1965960"/>
            <a:ext cx="2423160" cy="1371600"/>
          </a:xfrm>
          <a:prstGeom prst="roundRect">
            <a:avLst>
              <a:gd name="adj" fmla="val 5333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95944" y="2075688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8787384" y="295351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SaaS deps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" y="3703320"/>
            <a:ext cx="1051560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1051560" y="3886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profile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425196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React-strong frontend developer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CNN/ML background, pivoting to backend + owns AI Parser config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Java-strong, conceptual Python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full-stack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strong pipeline-experienced generalist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943600" y="3931920"/>
            <a:ext cx="0" cy="2057400"/>
          </a:xfrm>
          <a:prstGeom prst="line">
            <a:avLst/>
          </a:prstGeom>
          <a:noFill/>
          <a:ln w="12700">
            <a:solidFill>
              <a:srgbClr val="D8DF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63640" y="388620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Governing rule for every choice below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4251960"/>
            <a:ext cx="4892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Demonstrable correctness over production polish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heavier than needed is deferred with a stated trigger — not built because it looks impressive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grew mid-build (all 57 doc types, AI redaction layer) — timeline did not, so every add had to earn its place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backend language, end to end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everywhere except the browser — the one deliberate exception is named below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32688" y="2350008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88036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56432" y="214884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66160" y="2350008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288036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89904" y="214884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199632" y="2350008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199632" y="288036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DB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723376" y="214884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833104" y="2350008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MinIO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833104" y="288036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2960" y="3721608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32688" y="3922776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 + Celery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32688" y="4453128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Queue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456432" y="3721608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3566160" y="3922776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PaddleOCR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566160" y="4453128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Worker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89904" y="3721608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199632" y="3922776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Presidio + spaCy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199632" y="4453128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Parser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723376" y="3721608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8833104" y="3922776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fabric-sdk-py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8833104" y="4453128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Worker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22960" y="5623560"/>
            <a:ext cx="10515600" cy="777240"/>
          </a:xfrm>
          <a:prstGeom prst="roundRect">
            <a:avLst>
              <a:gd name="adj" fmla="val 9412"/>
            </a:avLst>
          </a:prstGeom>
          <a:solidFill>
            <a:srgbClr val="FBF3DD"/>
          </a:solidFill>
          <a:ln w="12700">
            <a:solidFill>
              <a:srgbClr val="E9D89A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1051560" y="56235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deliberate exception: </a:t>
            </a:r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fabric-sdk-py is Fabric's community-maintained SDK, less current than the Node/Java/Go paths — chosen for stack consistency, with the maturity risk explicitly accepted, not overlooked.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CONTEXT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talks to the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874520" cy="393192"/>
          </a:xfrm>
          <a:prstGeom prst="roundRect">
            <a:avLst>
              <a:gd name="adj" fmla="val 16279"/>
            </a:avLst>
          </a:prstGeom>
          <a:solidFill>
            <a:srgbClr val="3F5C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691640"/>
            <a:ext cx="17282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/ Complainant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2176272"/>
            <a:ext cx="1874520" cy="393192"/>
          </a:xfrm>
          <a:prstGeom prst="roundRect">
            <a:avLst>
              <a:gd name="adj" fmla="val 16279"/>
            </a:avLst>
          </a:prstGeom>
          <a:solidFill>
            <a:srgbClr val="3F5C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2176272"/>
            <a:ext cx="17282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Duty Officer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40080" y="2660904"/>
            <a:ext cx="1874520" cy="393192"/>
          </a:xfrm>
          <a:prstGeom prst="roundRect">
            <a:avLst>
              <a:gd name="adj" fmla="val 16279"/>
            </a:avLst>
          </a:prstGeom>
          <a:solidFill>
            <a:srgbClr val="3F5C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3232" y="2660904"/>
            <a:ext cx="17282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40080" y="3145536"/>
            <a:ext cx="1874520" cy="393192"/>
          </a:xfrm>
          <a:prstGeom prst="roundRect">
            <a:avLst>
              <a:gd name="adj" fmla="val 16279"/>
            </a:avLst>
          </a:prstGeom>
          <a:solidFill>
            <a:srgbClr val="3F5C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3145536"/>
            <a:ext cx="17282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Investigating Officer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40080" y="3630168"/>
            <a:ext cx="1874520" cy="393192"/>
          </a:xfrm>
          <a:prstGeom prst="roundRect">
            <a:avLst>
              <a:gd name="adj" fmla="val 16279"/>
            </a:avLst>
          </a:prstGeom>
          <a:solidFill>
            <a:srgbClr val="3F5C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3630168"/>
            <a:ext cx="17282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Authority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40080" y="4114800"/>
            <a:ext cx="1874520" cy="393192"/>
          </a:xfrm>
          <a:prstGeom prst="roundRect">
            <a:avLst>
              <a:gd name="adj" fmla="val 16279"/>
            </a:avLst>
          </a:prstGeom>
          <a:solidFill>
            <a:srgbClr val="3F5C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3232" y="4114800"/>
            <a:ext cx="17282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Prosecutor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40080" y="4599432"/>
            <a:ext cx="1874520" cy="393192"/>
          </a:xfrm>
          <a:prstGeom prst="roundRect">
            <a:avLst>
              <a:gd name="adj" fmla="val 16279"/>
            </a:avLst>
          </a:prstGeom>
          <a:solidFill>
            <a:srgbClr val="3F5C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" y="4599432"/>
            <a:ext cx="17282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40080" y="5084064"/>
            <a:ext cx="1874520" cy="393192"/>
          </a:xfrm>
          <a:prstGeom prst="roundRect">
            <a:avLst>
              <a:gd name="adj" fmla="val 16279"/>
            </a:avLst>
          </a:prstGeom>
          <a:solidFill>
            <a:srgbClr val="3F5C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3232" y="5084064"/>
            <a:ext cx="17282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/ Accused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40080" y="5568696"/>
            <a:ext cx="1874520" cy="393192"/>
          </a:xfrm>
          <a:prstGeom prst="roundRect">
            <a:avLst>
              <a:gd name="adj" fmla="val 16279"/>
            </a:avLst>
          </a:prstGeom>
          <a:solidFill>
            <a:srgbClr val="3F5C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5568696"/>
            <a:ext cx="17282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Admin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40080" y="6053328"/>
            <a:ext cx="1874520" cy="393192"/>
          </a:xfrm>
          <a:prstGeom prst="roundRect">
            <a:avLst>
              <a:gd name="adj" fmla="val 16279"/>
            </a:avLst>
          </a:prstGeom>
          <a:solidFill>
            <a:srgbClr val="C9A22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3232" y="6053328"/>
            <a:ext cx="17282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/ NCRB Analyst (new)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160520" y="1691640"/>
            <a:ext cx="3931920" cy="4754880"/>
          </a:xfrm>
          <a:prstGeom prst="roundRect">
            <a:avLst>
              <a:gd name="adj" fmla="val 186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160520" y="35661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Digital DMS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4434840" y="405079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· Document · Evidence ·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Bail · Audit management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514600" y="1888236"/>
            <a:ext cx="1600200" cy="0"/>
          </a:xfrm>
          <a:prstGeom prst="line">
            <a:avLst/>
          </a:prstGeom>
          <a:noFill/>
          <a:ln w="12700">
            <a:solidFill>
              <a:srgbClr val="C7CFDD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2514600" y="2372868"/>
            <a:ext cx="1600200" cy="0"/>
          </a:xfrm>
          <a:prstGeom prst="line">
            <a:avLst/>
          </a:prstGeom>
          <a:noFill/>
          <a:ln w="12700">
            <a:solidFill>
              <a:srgbClr val="C7CFDD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2514600" y="2857500"/>
            <a:ext cx="1600200" cy="0"/>
          </a:xfrm>
          <a:prstGeom prst="line">
            <a:avLst/>
          </a:prstGeom>
          <a:noFill/>
          <a:ln w="12700">
            <a:solidFill>
              <a:srgbClr val="C7CFDD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2514600" y="3342132"/>
            <a:ext cx="1600200" cy="0"/>
          </a:xfrm>
          <a:prstGeom prst="line">
            <a:avLst/>
          </a:prstGeom>
          <a:noFill/>
          <a:ln w="12700">
            <a:solidFill>
              <a:srgbClr val="C7CFDD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2514600" y="3826764"/>
            <a:ext cx="1600200" cy="0"/>
          </a:xfrm>
          <a:prstGeom prst="line">
            <a:avLst/>
          </a:prstGeom>
          <a:noFill/>
          <a:ln w="12700">
            <a:solidFill>
              <a:srgbClr val="C7CFDD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2514600" y="4311396"/>
            <a:ext cx="1600200" cy="0"/>
          </a:xfrm>
          <a:prstGeom prst="line">
            <a:avLst/>
          </a:prstGeom>
          <a:noFill/>
          <a:ln w="12700">
            <a:solidFill>
              <a:srgbClr val="C7CFDD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2514600" y="4796028"/>
            <a:ext cx="1600200" cy="0"/>
          </a:xfrm>
          <a:prstGeom prst="line">
            <a:avLst/>
          </a:prstGeom>
          <a:noFill/>
          <a:ln w="12700">
            <a:solidFill>
              <a:srgbClr val="C7CFDD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2514600" y="5280660"/>
            <a:ext cx="1600200" cy="0"/>
          </a:xfrm>
          <a:prstGeom prst="line">
            <a:avLst/>
          </a:prstGeom>
          <a:noFill/>
          <a:ln w="12700">
            <a:solidFill>
              <a:srgbClr val="C7CFDD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2514600" y="5765292"/>
            <a:ext cx="1600200" cy="0"/>
          </a:xfrm>
          <a:prstGeom prst="line">
            <a:avLst/>
          </a:prstGeom>
          <a:noFill/>
          <a:ln w="12700">
            <a:solidFill>
              <a:srgbClr val="C7CFDD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2514600" y="6249924"/>
            <a:ext cx="1600200" cy="0"/>
          </a:xfrm>
          <a:prstGeom prst="line">
            <a:avLst/>
          </a:prstGeom>
          <a:noFill/>
          <a:ln w="12700">
            <a:solidFill>
              <a:srgbClr val="C7CFDD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189720" y="3383280"/>
            <a:ext cx="2331720" cy="1371600"/>
          </a:xfrm>
          <a:prstGeom prst="roundRect">
            <a:avLst>
              <a:gd name="adj" fmla="val 4667"/>
            </a:avLst>
          </a:prstGeom>
          <a:solidFill>
            <a:srgbClr val="C9A22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262872" y="3456432"/>
            <a:ext cx="218541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Hyperledger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9262872" y="4480560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5-node permissioned ledger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8092440" y="4069080"/>
            <a:ext cx="10515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41" name="Text 39"/>
          <p:cNvSpPr txBox="1"/>
          <p:nvPr/>
        </p:nvSpPr>
        <p:spPr>
          <a:xfrm>
            <a:off x="8138160" y="368503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signed hashes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CONTAINERS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system boundary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103120" cy="777240"/>
          </a:xfrm>
          <a:prstGeom prst="roundRect">
            <a:avLst>
              <a:gd name="adj" fmla="val 8235"/>
            </a:avLst>
          </a:prstGeom>
          <a:solidFill>
            <a:srgbClr val="3F5C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856232"/>
            <a:ext cx="195681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2286000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246120" y="1783080"/>
            <a:ext cx="2286000" cy="777240"/>
          </a:xfrm>
          <a:prstGeom prst="roundRect">
            <a:avLst>
              <a:gd name="adj" fmla="val 8235"/>
            </a:avLst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19272" y="1856232"/>
            <a:ext cx="21396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Server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319272" y="228600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FastAPI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43200" y="2171700"/>
            <a:ext cx="457200" cy="0"/>
          </a:xfrm>
          <a:prstGeom prst="line">
            <a:avLst/>
          </a:prstGeom>
          <a:noFill/>
          <a:ln w="22225">
            <a:solidFill>
              <a:srgbClr val="3F5C8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035040" y="1783080"/>
            <a:ext cx="2148840" cy="777240"/>
          </a:xfrm>
          <a:prstGeom prst="roundRect">
            <a:avLst>
              <a:gd name="adj" fmla="val 8235"/>
            </a:avLst>
          </a:prstGeom>
          <a:solidFill>
            <a:srgbClr val="3F5C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08192" y="1856232"/>
            <a:ext cx="200253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DB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108192" y="2286000"/>
            <a:ext cx="200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686800" y="1783080"/>
            <a:ext cx="2148840" cy="777240"/>
          </a:xfrm>
          <a:prstGeom prst="roundRect">
            <a:avLst>
              <a:gd name="adj" fmla="val 8235"/>
            </a:avLst>
          </a:prstGeom>
          <a:solidFill>
            <a:srgbClr val="3F5C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759952" y="1856232"/>
            <a:ext cx="200253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759952" y="2286000"/>
            <a:ext cx="200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(S3-compatible)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532120" y="2171700"/>
            <a:ext cx="457200" cy="0"/>
          </a:xfrm>
          <a:prstGeom prst="line">
            <a:avLst/>
          </a:prstGeom>
          <a:noFill/>
          <a:ln w="22225">
            <a:solidFill>
              <a:srgbClr val="3F5C8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183880" y="2171700"/>
            <a:ext cx="457200" cy="0"/>
          </a:xfrm>
          <a:prstGeom prst="line">
            <a:avLst/>
          </a:prstGeom>
          <a:noFill/>
          <a:ln w="22225">
            <a:solidFill>
              <a:srgbClr val="3F5C8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246120" y="3063240"/>
            <a:ext cx="2286000" cy="685800"/>
          </a:xfrm>
          <a:prstGeom prst="roundRect">
            <a:avLst>
              <a:gd name="adj" fmla="val 9333"/>
            </a:avLst>
          </a:prstGeom>
          <a:solidFill>
            <a:srgbClr val="121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319272" y="3136392"/>
            <a:ext cx="21396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Queue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319272" y="347472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+ Celery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389120" y="2560320"/>
            <a:ext cx="0" cy="457200"/>
          </a:xfrm>
          <a:prstGeom prst="line">
            <a:avLst/>
          </a:prstGeom>
          <a:noFill/>
          <a:ln w="22225">
            <a:solidFill>
              <a:srgbClr val="3F5C82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40080" y="4251960"/>
            <a:ext cx="2514600" cy="960120"/>
          </a:xfrm>
          <a:prstGeom prst="roundRect">
            <a:avLst>
              <a:gd name="adj" fmla="val 6667"/>
            </a:avLst>
          </a:prstGeom>
          <a:solidFill>
            <a:srgbClr val="3F5C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3232" y="4325112"/>
            <a:ext cx="236829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&amp; Extraction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713232" y="4937760"/>
            <a:ext cx="2368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PaddleOCR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429000" y="4251960"/>
            <a:ext cx="2514600" cy="960120"/>
          </a:xfrm>
          <a:prstGeom prst="roundRect">
            <a:avLst>
              <a:gd name="adj" fmla="val 6667"/>
            </a:avLst>
          </a:prstGeom>
          <a:solidFill>
            <a:srgbClr val="C9A22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502152" y="4325112"/>
            <a:ext cx="236829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Parser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3502152" y="4937760"/>
            <a:ext cx="2368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Presidio + spaCy NER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217920" y="4251960"/>
            <a:ext cx="2514600" cy="960120"/>
          </a:xfrm>
          <a:prstGeom prst="roundRect">
            <a:avLst>
              <a:gd name="adj" fmla="val 6667"/>
            </a:avLst>
          </a:prstGeom>
          <a:solidFill>
            <a:srgbClr val="3F5C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91072" y="4325112"/>
            <a:ext cx="236829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Write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291072" y="4937760"/>
            <a:ext cx="2368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fabric-sdk-py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9006840" y="4251960"/>
            <a:ext cx="2514600" cy="960120"/>
          </a:xfrm>
          <a:prstGeom prst="roundRect">
            <a:avLst>
              <a:gd name="adj" fmla="val 6667"/>
            </a:avLst>
          </a:prstGeom>
          <a:solidFill>
            <a:srgbClr val="121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079992" y="4325112"/>
            <a:ext cx="236829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Hyperledger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9079992" y="4937760"/>
            <a:ext cx="2368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5-node ledger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389120" y="3749040"/>
            <a:ext cx="-2491740" cy="484632"/>
          </a:xfrm>
          <a:prstGeom prst="line">
            <a:avLst/>
          </a:prstGeom>
          <a:noFill/>
          <a:ln w="15875">
            <a:solidFill>
              <a:srgbClr val="6B7A99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389120" y="3749040"/>
            <a:ext cx="297180" cy="484632"/>
          </a:xfrm>
          <a:prstGeom prst="line">
            <a:avLst/>
          </a:prstGeom>
          <a:noFill/>
          <a:ln w="15875">
            <a:solidFill>
              <a:srgbClr val="6B7A99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4389120" y="3749040"/>
            <a:ext cx="3086100" cy="484632"/>
          </a:xfrm>
          <a:prstGeom prst="line">
            <a:avLst/>
          </a:prstGeom>
          <a:noFill/>
          <a:ln w="15875">
            <a:solidFill>
              <a:srgbClr val="6B7A99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3154680" y="4640580"/>
            <a:ext cx="274320" cy="0"/>
          </a:xfrm>
          <a:prstGeom prst="line">
            <a:avLst/>
          </a:prstGeom>
          <a:noFill/>
          <a:ln w="19050">
            <a:solidFill>
              <a:srgbClr val="3F5C82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8732520" y="4732020"/>
            <a:ext cx="274320" cy="0"/>
          </a:xfrm>
          <a:prstGeom prst="line">
            <a:avLst/>
          </a:prstGeom>
          <a:noFill/>
          <a:ln w="22225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40" name="Text 38"/>
          <p:cNvSpPr txBox="1"/>
          <p:nvPr/>
        </p:nvSpPr>
        <p:spPr>
          <a:xfrm>
            <a:off x="640080" y="5349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fans out to all three workers  ·  OCR enqueues the AI-parse job on completion  ·  Chain Worker submits to Fabric directly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40080" y="5715000"/>
            <a:ext cx="10835640" cy="594360"/>
          </a:xfrm>
          <a:prstGeom prst="roundRect">
            <a:avLst>
              <a:gd name="adj" fmla="val 12308"/>
            </a:avLst>
          </a:prstGeom>
          <a:solidFill>
            <a:srgbClr val="EEF2F8"/>
          </a:solidFill>
          <a:ln w="12700">
            <a:solidFill>
              <a:srgbClr val="D8DF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42" name="Text 40"/>
          <p:cNvSpPr txBox="1"/>
          <p:nvPr/>
        </p:nvSpPr>
        <p:spPr>
          <a:xfrm>
            <a:off x="822960" y="5715000"/>
            <a:ext cx="10378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job types, three workers, single producer/consumer each. </a:t>
            </a:r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runs in parallel with OCR→AI-tagging, not behind it — the hash covers raw bytes, which never change regardless of tagging outcome.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each technology, in one line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724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over NoSQL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Case/document/evidence/bail data is deeply relational — joins for stage-requirement checks matter more than schema flexibility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Python/FastAPI for the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 backend standardized on Python; async fits the poll-heavy, queue-heavy request pattern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 + Celery over BullMQ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is all-Python now — Celery is the mature, officially-supported choice; avoids a 2nd under-supported client library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fabric-sdk-py for Chain Worker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 consistency chosen deliberately over SDK maturity — risk accepted, not overlooked (see Fabric slide)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Presidio + spaCy for AI Parser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Purpose-built, self-hosted PII detection — not a generative LLM; needs config, not training data, to go live in-window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MinIO over files-in-Postgres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evidence (CCTV, device dumps) doesn't belong in relational rows — object storage + DB reference is the standard split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core resources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9933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 / User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774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org per real institution; specialized police units are roles inside Police, not separate orgs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251960" y="187452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389120" y="19933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23774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crime_type, court_level, investigation_status, bail_status — the last two are independent columns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955280" y="187452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092440" y="19933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8092440" y="23774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Versioned, append-only — originals never overwritten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85800" y="35478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EvidenceRequest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39319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parallel requests per case, AND-join gate before charge-sheet filing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51960" y="34290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389120" y="35478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BailRecord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389120" y="39319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bail_status independently of investigation_status on the same case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955280" y="34290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092440" y="35478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DocumentSchema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19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Field-level sensitivity registry + AI Parser recognizer mappings, tiered by document type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98348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85800" y="51023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StageRequirements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54864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Config-driven mandatory-document/evidence rules per crime type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51960" y="498348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4389120" y="51023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CaseDiaryEntry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4389120" y="54864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running log the IO writes to (new this pass)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955280" y="498348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8092440" y="51023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AuditLog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8092440" y="54864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Append-only, hash-chained; includes AI Parser decisions + a meta-audit of who read them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1 — SYNCHRONOUS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 Registration &amp; Case Creation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needs the case number immediately — this stays synchronous end to end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112264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submits complaint + ID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14984" y="2532888"/>
            <a:ext cx="0" cy="329184"/>
          </a:xfrm>
          <a:prstGeom prst="line">
            <a:avLst/>
          </a:prstGeom>
          <a:noFill/>
          <a:ln w="19050">
            <a:solidFill>
              <a:srgbClr val="C7CFDD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22960" y="2898648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898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862072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creates Case + Document(complaint, ID) in one DB transaction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14984" y="3282696"/>
            <a:ext cx="0" cy="329184"/>
          </a:xfrm>
          <a:prstGeom prst="line">
            <a:avLst/>
          </a:prstGeom>
          <a:noFill/>
          <a:ln w="19050">
            <a:solidFill>
              <a:srgbClr val="C7CFDD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22960" y="3648456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648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61188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number assigned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14984" y="4032504"/>
            <a:ext cx="0" cy="329184"/>
          </a:xfrm>
          <a:prstGeom prst="line">
            <a:avLst/>
          </a:prstGeom>
          <a:noFill/>
          <a:ln w="19050">
            <a:solidFill>
              <a:srgbClr val="C7CFDD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22960" y="4398264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4398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361688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hash-write job enqueued (async, doesn't block the response)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014984" y="4782312"/>
            <a:ext cx="0" cy="329184"/>
          </a:xfrm>
          <a:prstGeom prst="line">
            <a:avLst/>
          </a:prstGeom>
          <a:noFill/>
          <a:ln w="19050">
            <a:solidFill>
              <a:srgbClr val="C7CFDD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22960" y="5148072"/>
            <a:ext cx="384048" cy="384048"/>
          </a:xfrm>
          <a:prstGeom prst="ellipse">
            <a:avLst/>
          </a:prstGeom>
          <a:solidFill>
            <a:srgbClr val="2E6B4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5148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511149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Created — case number shown to victim immediately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2 — THE CORE DIFFERENTIATOR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 → OCR → AI-Parsed Redaction → Blockchain Hash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920240" cy="64008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856232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2148840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 Accepted, doc_id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468880" y="2103120"/>
            <a:ext cx="411480" cy="0"/>
          </a:xfrm>
          <a:prstGeom prst="line">
            <a:avLst/>
          </a:prstGeom>
          <a:noFill/>
          <a:ln w="22225">
            <a:solidFill>
              <a:srgbClr val="3F5C82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2971800" y="14173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 — HASHING (independent of tagging)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971800" y="1783080"/>
            <a:ext cx="2103120" cy="640080"/>
          </a:xfrm>
          <a:prstGeom prst="roundRect">
            <a:avLst>
              <a:gd name="adj" fmla="val 10000"/>
            </a:avLst>
          </a:prstGeom>
          <a:solidFill>
            <a:srgbClr val="C9A22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44952" y="1856232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Worker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044952" y="2148840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+ submit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120640" y="2103120"/>
            <a:ext cx="411480" cy="0"/>
          </a:xfrm>
          <a:prstGeom prst="line">
            <a:avLst/>
          </a:prstGeom>
          <a:noFill/>
          <a:ln w="22225">
            <a:solidFill>
              <a:srgbClr val="3F5C8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532120" y="1783080"/>
            <a:ext cx="2103120" cy="640080"/>
          </a:xfrm>
          <a:prstGeom prst="roundRect">
            <a:avLst>
              <a:gd name="adj" fmla="val 10000"/>
            </a:avLst>
          </a:prstGeom>
          <a:solidFill>
            <a:srgbClr val="C9A22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05272" y="1856232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605272" y="2148840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confirmed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680960" y="2103120"/>
            <a:ext cx="411480" cy="0"/>
          </a:xfrm>
          <a:prstGeom prst="line">
            <a:avLst/>
          </a:prstGeom>
          <a:noFill/>
          <a:ln w="22225">
            <a:solidFill>
              <a:srgbClr val="3F5C8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092440" y="1783080"/>
            <a:ext cx="2468880" cy="640080"/>
          </a:xfrm>
          <a:prstGeom prst="roundRect">
            <a:avLst>
              <a:gd name="adj" fmla="val 10000"/>
            </a:avLst>
          </a:prstGeom>
          <a:solidFill>
            <a:srgbClr val="3F5C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165592" y="1783080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chain_status =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971800" y="27889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 — EXTRACTION + AUTO-REDACTION (text documents only)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971800" y="3154680"/>
            <a:ext cx="2103120" cy="731520"/>
          </a:xfrm>
          <a:prstGeom prst="roundRect">
            <a:avLst>
              <a:gd name="adj" fmla="val 8750"/>
            </a:avLst>
          </a:prstGeom>
          <a:solidFill>
            <a:srgbClr val="3F5C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044952" y="3227832"/>
            <a:ext cx="19568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Worker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044952" y="3611880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PaddleOCR extract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120640" y="3520440"/>
            <a:ext cx="411480" cy="0"/>
          </a:xfrm>
          <a:prstGeom prst="line">
            <a:avLst/>
          </a:prstGeom>
          <a:noFill/>
          <a:ln w="22225">
            <a:solidFill>
              <a:srgbClr val="3F5C82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532120" y="3154680"/>
            <a:ext cx="2468880" cy="731520"/>
          </a:xfrm>
          <a:prstGeom prst="roundRect">
            <a:avLst>
              <a:gd name="adj" fmla="val 8750"/>
            </a:avLst>
          </a:prstGeom>
          <a:solidFill>
            <a:srgbClr val="3F5C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05272" y="3227832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Parser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605272" y="3611880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Presidio + spaCy tag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046720" y="3520440"/>
            <a:ext cx="411480" cy="0"/>
          </a:xfrm>
          <a:prstGeom prst="line">
            <a:avLst/>
          </a:prstGeom>
          <a:noFill/>
          <a:ln w="22225">
            <a:solidFill>
              <a:srgbClr val="3F5C82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458200" y="3154680"/>
            <a:ext cx="2103120" cy="731520"/>
          </a:xfrm>
          <a:prstGeom prst="roundRect">
            <a:avLst>
              <a:gd name="adj" fmla="val 8750"/>
            </a:avLst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531352" y="3154680"/>
            <a:ext cx="1956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= ready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(redacted view)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971800" y="4160520"/>
            <a:ext cx="7589520" cy="777240"/>
          </a:xfrm>
          <a:prstGeom prst="roundRect">
            <a:avLst>
              <a:gd name="adj" fmla="val 9412"/>
            </a:avLst>
          </a:prstGeom>
          <a:solidFill>
            <a:srgbClr val="FBEDEA"/>
          </a:solidFill>
          <a:ln w="12700">
            <a:solidFill>
              <a:srgbClr val="E7C6BE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3200400" y="416052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2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Fail-safe: </a:t>
            </a:r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AI Parser tagging fails repeatedly → document defaults to fully redacted + flagged "needs review", never fully exposed. Officer can still correct any tag via redact-tag (human override retained).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1663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evidence (CCTV / device dumps): skip OCR + AI Parser — hash the raw file directly.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562356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77240" y="562356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tracks finish →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/documents/:id (poll) returns a role-filtered, redacted view using the auto-tagged spans. </a:t>
            </a:r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WebSockets anywhere — short polling is the simplest thing that works at this scale.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PARSER WORKER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redaction — without an LLM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5780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9659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actually is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77440"/>
            <a:ext cx="48006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Presidio + spaCy NER, self-hosted — pattern recognizers + a pretrained named-entity model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NLP, not a generative model: no prompt-assembly, no LLM API call, no token-budget concern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"Training" is reframed as one-time config: map entity types (name, phone, medical condition...) to each DocumentSchema's sensitivity fields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automatic at runtime after that config step — no human in the loop per document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local — the "zero external SaaS dependency" claim survives fully intact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989320" y="1783080"/>
            <a:ext cx="525780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217920" y="19659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limitation, stated up front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2377440"/>
            <a:ext cx="48006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Off-the-shelf NER is trained on general text — not Indian legal/medical/police-report language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 real gaps on domain-specific fields (FIR section numbers, caste/religion fields, diagnosis codes) until recognizer patterns are tuned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why the manual redact-tag override matters — it's the safety net for a system that will misclassify some spans out of the box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Fail-safe direction: on repeated failure, default to fully redacted, never fully exposed — failing closed is the only acceptable direction here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— ASKED DIRECTLY BY THE TEAM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we prove what the AI redacted, and who looked at it?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21D33"/>
          </a:solidFill>
          <a:ln w="12700">
            <a:solidFill>
              <a:srgbClr val="121D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05740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Logged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2316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auto-tag and every human correction — same append-only, hash-chained audit log as any other action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35204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21D33"/>
          </a:solidFill>
          <a:ln w="12700">
            <a:solidFill>
              <a:srgbClr val="121D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365760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logged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02336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redacted text itself — only metadata (entity type, location, confidence). Otherwise the audit log becomes the leak redaction was meant to stop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192024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121D33"/>
          </a:solidFill>
          <a:ln w="12700">
            <a:solidFill>
              <a:srgbClr val="121D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20116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Default access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30428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roles see only an aggregate line: "3 fields auto-tagged, 1 corrected" — never the specifics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72200" y="315468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121D33"/>
          </a:solidFill>
          <a:ln w="12700">
            <a:solidFill>
              <a:srgbClr val="121D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32461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detail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353872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Entity-level detail (which field, confidence, who corrected) is System Admin only, via GET /cases/:id/audit-log/ai-parser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72200" y="438912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121D33"/>
          </a:solidFill>
          <a:ln w="12700">
            <a:solidFill>
              <a:srgbClr val="121D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0" y="44805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Meta-audit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477316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read of that endpoint is itself logged — we know who has ever looked at the AI's decisions, not just that the decisions are tamper-evident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5532120"/>
            <a:ext cx="10424160" cy="731520"/>
          </a:xfrm>
          <a:prstGeom prst="roundRect">
            <a:avLst>
              <a:gd name="adj" fmla="val 10000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553212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bulk / cross-case export on this endpoint — one case at a time, so a single compromised Admin credential can't pull the whole redaction history in one request.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3 — AND-JOIN GATE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 Evidence Requests → Charge Sheet Filing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 creates N independent requests — any order, any timing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3246120" cy="777240"/>
          </a:xfrm>
          <a:prstGeom prst="roundRect">
            <a:avLst>
              <a:gd name="adj" fmla="val 8235"/>
            </a:avLst>
          </a:prstGeom>
          <a:solidFill>
            <a:srgbClr val="3F5C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2221992"/>
            <a:ext cx="309981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651760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submits independently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446020" y="2926080"/>
            <a:ext cx="0" cy="457200"/>
          </a:xfrm>
          <a:prstGeom prst="line">
            <a:avLst/>
          </a:prstGeom>
          <a:noFill/>
          <a:ln w="22225">
            <a:solidFill>
              <a:srgbClr val="3F5C8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22960" y="3383280"/>
            <a:ext cx="3246120" cy="548640"/>
          </a:xfrm>
          <a:prstGeom prst="roundRect">
            <a:avLst>
              <a:gd name="adj" fmla="val 11667"/>
            </a:avLst>
          </a:prstGeom>
          <a:solidFill>
            <a:srgbClr val="8CA6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" y="3383280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= completed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25112" y="2148840"/>
            <a:ext cx="3246120" cy="777240"/>
          </a:xfrm>
          <a:prstGeom prst="roundRect">
            <a:avLst>
              <a:gd name="adj" fmla="val 8235"/>
            </a:avLst>
          </a:prstGeom>
          <a:solidFill>
            <a:srgbClr val="3F5C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98264" y="2221992"/>
            <a:ext cx="309981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398264" y="2651760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submits independently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8172" y="2926080"/>
            <a:ext cx="0" cy="457200"/>
          </a:xfrm>
          <a:prstGeom prst="line">
            <a:avLst/>
          </a:prstGeom>
          <a:noFill/>
          <a:ln w="22225">
            <a:solidFill>
              <a:srgbClr val="3F5C8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325112" y="3383280"/>
            <a:ext cx="3246120" cy="548640"/>
          </a:xfrm>
          <a:prstGeom prst="roundRect">
            <a:avLst>
              <a:gd name="adj" fmla="val 11667"/>
            </a:avLst>
          </a:prstGeom>
          <a:solidFill>
            <a:srgbClr val="8CA6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98264" y="3383280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= completed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27264" y="2148840"/>
            <a:ext cx="3246120" cy="777240"/>
          </a:xfrm>
          <a:prstGeom prst="roundRect">
            <a:avLst>
              <a:gd name="adj" fmla="val 8235"/>
            </a:avLst>
          </a:prstGeom>
          <a:solidFill>
            <a:srgbClr val="3F5C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900416" y="2221992"/>
            <a:ext cx="309981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FSL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900416" y="2651760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submits independently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450324" y="2926080"/>
            <a:ext cx="0" cy="457200"/>
          </a:xfrm>
          <a:prstGeom prst="line">
            <a:avLst/>
          </a:prstGeom>
          <a:noFill/>
          <a:ln w="22225">
            <a:solidFill>
              <a:srgbClr val="3F5C8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827264" y="3383280"/>
            <a:ext cx="3246120" cy="548640"/>
          </a:xfrm>
          <a:prstGeom prst="roundRect">
            <a:avLst>
              <a:gd name="adj" fmla="val 11667"/>
            </a:avLst>
          </a:prstGeom>
          <a:solidFill>
            <a:srgbClr val="8CA6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900416" y="3383280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= completed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2960" y="4114800"/>
            <a:ext cx="9509760" cy="0"/>
          </a:xfrm>
          <a:prstGeom prst="line">
            <a:avLst/>
          </a:prstGeom>
          <a:noFill/>
          <a:ln w="12700">
            <a:solidFill>
              <a:srgbClr val="6B7A99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822960" y="416052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AND-JOIN — all three converge here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566160" y="4526280"/>
            <a:ext cx="3108960" cy="64008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639312" y="4526280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Prosecutor: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file-charge-sheet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120640" y="5166360"/>
            <a:ext cx="0" cy="274320"/>
          </a:xfrm>
          <a:prstGeom prst="line">
            <a:avLst/>
          </a:prstGeom>
          <a:noFill/>
          <a:ln w="22225">
            <a:solidFill>
              <a:srgbClr val="3F5C82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280160" y="5440680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E9F3EE"/>
          </a:solidFill>
          <a:ln w="12700">
            <a:solidFill>
              <a:srgbClr val="BFDFCF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1463040" y="54406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All mandatory satisfied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2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— charge sheet filed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760720" y="5440680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FBEDEA"/>
          </a:solidFill>
          <a:ln w="12700">
            <a:solidFill>
              <a:srgbClr val="E7C6BE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5943600" y="54406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2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Missing items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A2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409 — explicit list returned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30936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against Stage Requirements config — which documents/requests are mandatory vs. optional, per crime type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4 — RUNS INDEPENDENTLY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Bail Track — the demo's core differentiator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Violence chosen as the showcase case — it's the only women-safety case with a confirmed bail pathway ("Yes")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1874520" cy="777240"/>
          </a:xfrm>
          <a:prstGeom prst="roundRect">
            <a:avLst>
              <a:gd name="adj" fmla="val 8235"/>
            </a:avLst>
          </a:prstGeom>
          <a:solidFill>
            <a:srgbClr val="C9A22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2331720"/>
            <a:ext cx="1728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Arrest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14600" y="2720340"/>
            <a:ext cx="201168" cy="0"/>
          </a:xfrm>
          <a:prstGeom prst="line">
            <a:avLst/>
          </a:prstGeom>
          <a:noFill/>
          <a:ln w="22225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715768" y="2331720"/>
            <a:ext cx="1874520" cy="777240"/>
          </a:xfrm>
          <a:prstGeom prst="roundRect">
            <a:avLst>
              <a:gd name="adj" fmla="val 8235"/>
            </a:avLst>
          </a:prstGeom>
          <a:solidFill>
            <a:srgbClr val="C9A22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88920" y="2331720"/>
            <a:ext cx="1728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90288" y="2720340"/>
            <a:ext cx="201168" cy="0"/>
          </a:xfrm>
          <a:prstGeom prst="line">
            <a:avLst/>
          </a:prstGeom>
          <a:noFill/>
          <a:ln w="22225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791456" y="2331720"/>
            <a:ext cx="1874520" cy="777240"/>
          </a:xfrm>
          <a:prstGeom prst="roundRect">
            <a:avLst>
              <a:gd name="adj" fmla="val 8235"/>
            </a:avLst>
          </a:prstGeom>
          <a:solidFill>
            <a:srgbClr val="C9A22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64608" y="2331720"/>
            <a:ext cx="1728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Hearing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665976" y="2720340"/>
            <a:ext cx="201168" cy="0"/>
          </a:xfrm>
          <a:prstGeom prst="line">
            <a:avLst/>
          </a:prstGeom>
          <a:noFill/>
          <a:ln w="22225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867144" y="2331720"/>
            <a:ext cx="1874520" cy="777240"/>
          </a:xfrm>
          <a:prstGeom prst="roundRect">
            <a:avLst>
              <a:gd name="adj" fmla="val 8235"/>
            </a:avLst>
          </a:prstGeom>
          <a:solidFill>
            <a:srgbClr val="C9A22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40296" y="2331720"/>
            <a:ext cx="1728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741664" y="2720340"/>
            <a:ext cx="201168" cy="0"/>
          </a:xfrm>
          <a:prstGeom prst="line">
            <a:avLst/>
          </a:prstGeom>
          <a:noFill/>
          <a:ln w="22225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942832" y="2331720"/>
            <a:ext cx="1874520" cy="777240"/>
          </a:xfrm>
          <a:prstGeom prst="roundRect">
            <a:avLst>
              <a:gd name="adj" fmla="val 8235"/>
            </a:avLst>
          </a:prstGeom>
          <a:solidFill>
            <a:srgbClr val="C9A22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015984" y="2331720"/>
            <a:ext cx="1728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Surety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20040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IO/Police → Defense/Accused → Court → Court → Defense/Accused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3749040"/>
            <a:ext cx="10881360" cy="2606040"/>
          </a:xfrm>
          <a:prstGeom prst="roundRect">
            <a:avLst>
              <a:gd name="adj" fmla="val 2807"/>
            </a:avLst>
          </a:prstGeom>
          <a:solidFill>
            <a:srgbClr val="F4F6FA"/>
          </a:solidFill>
          <a:ln w="12700">
            <a:solidFill>
              <a:srgbClr val="D8DF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68680" y="3931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architecturally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4297680"/>
            <a:ext cx="5120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investigation_status and bail_status are two independent columns on the same case row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blocks the other — a case can be "Charge Sheet Ready" while bail is still "Hearing Scheduled", and vice versa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63640" y="3977640"/>
            <a:ext cx="0" cy="2194560"/>
          </a:xfrm>
          <a:prstGeom prst="line">
            <a:avLst/>
          </a:prstGeom>
          <a:noFill/>
          <a:ln w="12700">
            <a:solidFill>
              <a:srgbClr val="D8DF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83680" y="39319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Domestic Violence, specifically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0" y="4297680"/>
            <a:ext cx="4754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Bail pathway confirmed "Yes" — the demo can show both tracks live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Rape's pathway is unconfirmed / typically non-bailable — bail-track half of the demo would sit empty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redaction story than Cyber Fraud, given NCRB / Women Safety Division ownership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FOUNDATION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roles across 5 institution types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specialized police units are roles inside the Police org — not separate organizations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73609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74520"/>
            <a:ext cx="109728" cy="658368"/>
          </a:xfrm>
          <a:prstGeom prst="roundRect">
            <a:avLst/>
          </a:prstGeom>
          <a:solidFill>
            <a:srgbClr val="3F5C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92938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Case-initiating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167128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/ Complainant / Owner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642616"/>
            <a:ext cx="73609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642616"/>
            <a:ext cx="109728" cy="658368"/>
          </a:xfrm>
          <a:prstGeom prst="roundRect">
            <a:avLst/>
          </a:prstGeom>
          <a:solidFill>
            <a:srgbClr val="3F5C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269748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— police (general)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2935224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Duty Officer · SHO · Investigating Officer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410712"/>
            <a:ext cx="73609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410712"/>
            <a:ext cx="109728" cy="658368"/>
          </a:xfrm>
          <a:prstGeom prst="roundRect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465576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— specialized police units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3703320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Cell · Cyber Cell · Narcotics Police · Traffic Police · Crime Scene Unit · Rescue Team · Counselor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178808"/>
            <a:ext cx="73609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4178808"/>
            <a:ext cx="109728" cy="658368"/>
          </a:xfrm>
          <a:prstGeom prst="roundRect">
            <a:avLst/>
          </a:prstGeom>
          <a:solidFill>
            <a:srgbClr val="3F5C8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4233672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authorities (own org each)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4471416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FSL · Digital FSL · Hospital · Bank · Telecom · RTO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946904"/>
            <a:ext cx="73609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4946904"/>
            <a:ext cx="109728" cy="658368"/>
          </a:xfrm>
          <a:prstGeom prst="roundRect">
            <a:avLst/>
          </a:prstGeom>
          <a:solidFill>
            <a:srgbClr val="3F5C8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2960" y="500176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Judiciary (own org each)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5239512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Magistrate Court · Sessions Court · NDPS Court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715000"/>
            <a:ext cx="73609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5715000"/>
            <a:ext cx="109728" cy="658368"/>
          </a:xfrm>
          <a:prstGeom prst="roundRect">
            <a:avLst/>
          </a:prstGeom>
          <a:solidFill>
            <a:srgbClr val="3F5C8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22960" y="576986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/ platform / other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6007608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Prosecutor · System Admin · Defense/Accused (submission-only)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38160" y="1874520"/>
            <a:ext cx="3429000" cy="4480560"/>
          </a:xfrm>
          <a:prstGeom prst="roundRect">
            <a:avLst>
              <a:gd name="adj" fmla="val 2133"/>
            </a:avLst>
          </a:prstGeom>
          <a:solidFill>
            <a:srgbClr val="FBF3DD"/>
          </a:solidFill>
          <a:ln w="12700">
            <a:solidFill>
              <a:srgbClr val="E9D89A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8366760" y="20574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this pass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8366760" y="24688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/ NCRB Analyst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366760" y="2834640"/>
            <a:ext cx="2971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de-identified case metadata only — no identity/sensitive fields, even in redacted form</a:t>
            </a:r>
            <a:endParaRPr lang="en-US" sz="11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a dedicated Postgres view, not a new redaction system</a:t>
            </a:r>
            <a:endParaRPr lang="en-US" sz="11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Wasn't in the endpoint table or RBAC model at all until this review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MODEL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sees what, at a glance</a:t>
            </a:r>
            <a:endParaRPr lang="en-US" sz="3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480560"/>
                <a:gridCol w="42062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see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Duty Officer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Complaint, ID, FIR registration fields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Forensic reports, sensitive statement content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Investigating Officer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case file for assigned case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officers' unrelated cases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Authority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the specific request routed to them + their own report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of case file; victim identity beyond what's needed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Women Cell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case file for women-safety cases, redaction-toggle view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Prosecutor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 sheet, evidence list, case file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IO notes not marked for court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case file as filed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Pre-charge-sheet internal drafts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Defense / Accused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bail-related submissions only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Investigation materials during active investigation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 / NCRB Analyst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De-identified case metadata only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sensitive or identity field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DOCUMENTSCHEMA BUILD PLAN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 document types, 3 tiers, ~2-3 days of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2880360"/>
          </a:xfrm>
          <a:prstGeom prst="roundRect">
            <a:avLst>
              <a:gd name="adj" fmla="val 2540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0574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231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types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0175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 · MLC · Witness Statement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84048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custom schema — universal + highest sensitivity concentration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51960" y="1874520"/>
            <a:ext cx="3520440" cy="2880360"/>
          </a:xfrm>
          <a:prstGeom prst="roundRect">
            <a:avLst>
              <a:gd name="adj" fmla="val 2540"/>
            </a:avLst>
          </a:prstGeom>
          <a:solidFill>
            <a:srgbClr val="3F5C82"/>
          </a:solidFill>
          <a:ln w="12700">
            <a:solidFill>
              <a:srgbClr val="3F5C8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34840" y="20574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434840" y="24231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 types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434840" y="30175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Violence showcase set + full Bail Lifecycle (6 types)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384048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custom schema — your one demo showcase case, built deep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955280" y="1874520"/>
            <a:ext cx="3520440" cy="2880360"/>
          </a:xfrm>
          <a:prstGeom prst="roundRect">
            <a:avLst>
              <a:gd name="adj" fmla="val 254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38160" y="20574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138160" y="24231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~40+ types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8138160" y="30175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canonical document type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138160" y="384048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generic default sensitivity profile, inherited until individually authored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98348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77240" y="512064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Reversed from an earlier "build all 57 fully custom" instruction. </a:t>
            </a:r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 taxonomy document itself called that scope creep. This tiered plan still means "every one of the 57 types has a schema" — just not all at the same depth. Recognizer-mapping config owner: the ML-background teammate, working directly with whoever understands the legal/medical field semantics.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CONTRACTS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 endpoints across 8 resource groups</a:t>
            </a:r>
            <a:endParaRPr lang="en-US" sz="3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280160"/>
                <a:gridCol w="70408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 group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/ changed this review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 &amp; Org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lifecycle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Diary (create + list) — new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requests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needs_review filter — new; retry-chain-write idempotency rule specified; redact-tag now a correction path, not primary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Bail track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Trial / judgment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new — closes a state-diagram transition that had no endpoint at 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&amp; config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Recognizer-mapping config endpoint — new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&amp; reporting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AI-parser audit endpoint (Admin-only) — new; Records/NCRB reporting endpoint — new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172200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Grew from 25 → 36 rows across this review's two gap-check passes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VS. ASYNC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what's actually slow goes on the queue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57800" cy="4206240"/>
          </a:xfrm>
          <a:prstGeom prst="roundRect">
            <a:avLst>
              <a:gd name="adj" fmla="val 1739"/>
            </a:avLst>
          </a:prstGeom>
          <a:solidFill>
            <a:srgbClr val="E9F3EE"/>
          </a:solidFill>
          <a:ln w="12700">
            <a:solidFill>
              <a:srgbClr val="BFDFCF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20116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SYNCHRONOUS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4800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 registration — victim needs the case number immediately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 acknowledgment (202) — the processing after it is async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request submission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sheet filing — fast DB validation + state transition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bail stage actions — fast state transitions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trial/judgment actions — same reasoning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0" y="1828800"/>
            <a:ext cx="5257800" cy="4206240"/>
          </a:xfrm>
          <a:prstGeom prst="roundRect">
            <a:avLst>
              <a:gd name="adj" fmla="val 1739"/>
            </a:avLst>
          </a:prstGeom>
          <a:solidFill>
            <a:srgbClr val="EEF2F8"/>
          </a:solidFill>
          <a:ln w="12700">
            <a:solidFill>
              <a:srgbClr val="D8DF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263640" y="20116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5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ASYNC — QUEUE + WORKER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2423160"/>
            <a:ext cx="4800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/ field extraction — slow, status via short-poll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Parser tagging — chained after OCR, doc stays "processing" until done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hash-write — runs in parallel with OCR/AI-parse, not behind it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6172200"/>
            <a:ext cx="10744200" cy="548640"/>
          </a:xfrm>
          <a:prstGeom prst="roundRect">
            <a:avLst>
              <a:gd name="adj" fmla="val 13333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6172200"/>
            <a:ext cx="10287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WebSockets anywhere in this design — short-polling a status endpoint is the simplest thing that works at this scale.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 &amp; DEPENDENCIES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dependency, self-hosted</a:t>
            </a:r>
            <a:endParaRPr lang="en-US" sz="3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7665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5720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What's different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/ dev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Dockerized Postgres, local Fabric test network (5 peers), MinIO container, synthetic seed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 (judging day)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stack, seeded with the real 15-case dataset; no seed-reset route once finalized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(stated, not built)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Postgres, real multi-org Fabric consortium, HSM-backed signing keys — named as the LATER target throughout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543800" y="1828800"/>
            <a:ext cx="4069080" cy="4160520"/>
          </a:xfrm>
          <a:prstGeom prst="roundRect">
            <a:avLst>
              <a:gd name="adj" fmla="val 1798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0" y="20116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external SaaS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2468880"/>
            <a:ext cx="3611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Fabric, Postgres, MinIO, Redis/Celery, Presidio + spaCy — all self-hosted</a:t>
            </a:r>
            <a:endParaRPr lang="en-US" sz="11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LLM API. No external maps/payment/identity provider.</a:t>
            </a:r>
            <a:endParaRPr lang="en-US" sz="11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survived adding the "AI" component fully intact — worth stating precisely to judges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CHECKLIST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vs. LATER vs. WATCHLIST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74520"/>
            <a:ext cx="3520440" cy="502920"/>
          </a:xfrm>
          <a:prstGeom prst="roundRect">
            <a:avLst>
              <a:gd name="adj" fmla="val 14545"/>
            </a:avLst>
          </a:prstGeom>
          <a:solidFill>
            <a:srgbClr val="2E6B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87452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560320"/>
            <a:ext cx="3118104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●"/>
            </a:pPr>
            <a:r>
              <a:rPr lang="en-US" sz="10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Compose everywhere</a:t>
            </a:r>
            <a:endParaRPr lang="en-US" sz="1080" dirty="0"/>
          </a:p>
          <a:p>
            <a:pPr marL="228600" indent="-228600">
              <a:spcAft>
                <a:spcPts val="1100"/>
              </a:spcAft>
              <a:buSzPct val="100000"/>
              <a:buChar char="●"/>
            </a:pPr>
            <a:r>
              <a:rPr lang="en-US" sz="10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Fail-safe: AI failure → redact closed, not open</a:t>
            </a:r>
            <a:endParaRPr lang="en-US" sz="1080" dirty="0"/>
          </a:p>
          <a:p>
            <a:pPr marL="228600" indent="-228600">
              <a:spcAft>
                <a:spcPts val="1100"/>
              </a:spcAft>
              <a:buSzPct val="100000"/>
              <a:buChar char="●"/>
            </a:pPr>
            <a:r>
              <a:rPr lang="en-US" sz="10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Worker retry + manual recovery endpoint</a:t>
            </a:r>
            <a:endParaRPr lang="en-US" sz="1080" dirty="0"/>
          </a:p>
          <a:p>
            <a:pPr marL="228600" indent="-228600">
              <a:spcAft>
                <a:spcPts val="1100"/>
              </a:spcAft>
              <a:buSzPct val="100000"/>
              <a:buChar char="●"/>
            </a:pPr>
            <a:r>
              <a:rPr lang="en-US" sz="10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limiting, TLS, encryption at rest</a:t>
            </a:r>
            <a:endParaRPr lang="en-US" sz="1080" dirty="0"/>
          </a:p>
          <a:p>
            <a:pPr marL="228600" indent="-228600">
              <a:spcAft>
                <a:spcPts val="1100"/>
              </a:spcAft>
              <a:buSzPct val="100000"/>
              <a:buChar char="●"/>
            </a:pPr>
            <a:r>
              <a:rPr lang="en-US" sz="10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+ trunk-based branching, lightweight review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251960" y="187452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51960" y="1874520"/>
            <a:ext cx="3520440" cy="502920"/>
          </a:xfrm>
          <a:prstGeom prst="roundRect">
            <a:avLst>
              <a:gd name="adj" fmla="val 14545"/>
            </a:avLst>
          </a:prstGeom>
          <a:solidFill>
            <a:srgbClr val="3F5C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251960" y="187452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453128" y="2560320"/>
            <a:ext cx="3118104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●"/>
            </a:pPr>
            <a:r>
              <a:rPr lang="en-US" sz="10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chain-status reconciliation</a:t>
            </a:r>
            <a:endParaRPr lang="en-US" sz="1080" dirty="0"/>
          </a:p>
          <a:p>
            <a:pPr marL="228600" indent="-228600">
              <a:spcAft>
                <a:spcPts val="1100"/>
              </a:spcAft>
              <a:buSzPct val="100000"/>
              <a:buChar char="●"/>
            </a:pPr>
            <a:r>
              <a:rPr lang="en-US" sz="10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Recognizer active-learning / auto-tuning</a:t>
            </a:r>
            <a:endParaRPr lang="en-US" sz="1080" dirty="0"/>
          </a:p>
          <a:p>
            <a:pPr marL="228600" indent="-228600">
              <a:spcAft>
                <a:spcPts val="1100"/>
              </a:spcAft>
              <a:buSzPct val="100000"/>
              <a:buChar char="●"/>
            </a:pPr>
            <a:r>
              <a:rPr lang="en-US" sz="10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org onboarding</a:t>
            </a:r>
            <a:endParaRPr lang="en-US" sz="1080" dirty="0"/>
          </a:p>
          <a:p>
            <a:pPr marL="228600" indent="-228600">
              <a:spcAft>
                <a:spcPts val="1100"/>
              </a:spcAft>
              <a:buSzPct val="100000"/>
              <a:buChar char="●"/>
            </a:pPr>
            <a:r>
              <a:rPr lang="en-US" sz="10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tracing / full APM</a:t>
            </a:r>
            <a:endParaRPr lang="en-US" sz="1080" dirty="0"/>
          </a:p>
          <a:p>
            <a:pPr marL="228600" indent="-228600">
              <a:spcAft>
                <a:spcPts val="1100"/>
              </a:spcAft>
              <a:buSzPct val="100000"/>
              <a:buChar char="●"/>
            </a:pPr>
            <a:r>
              <a:rPr lang="en-US" sz="10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DR runbook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7955280" y="187452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955280" y="1874520"/>
            <a:ext cx="3520440" cy="502920"/>
          </a:xfrm>
          <a:prstGeom prst="roundRect">
            <a:avLst>
              <a:gd name="adj" fmla="val 14545"/>
            </a:avLst>
          </a:prstGeom>
          <a:solidFill>
            <a:srgbClr val="6B7A9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955280" y="187452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WATCHLIST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156448" y="2560320"/>
            <a:ext cx="3118104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●"/>
            </a:pPr>
            <a:r>
              <a:rPr lang="en-US" sz="10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— team/timeline says no</a:t>
            </a:r>
            <a:endParaRPr lang="en-US" sz="1080" dirty="0"/>
          </a:p>
          <a:p>
            <a:pPr marL="228600" indent="-228600">
              <a:spcAft>
                <a:spcPts val="1100"/>
              </a:spcAft>
              <a:buSzPct val="100000"/>
              <a:buChar char="●"/>
            </a:pPr>
            <a:r>
              <a:rPr lang="en-US" sz="10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— Celery is correctly sized</a:t>
            </a:r>
            <a:endParaRPr lang="en-US" sz="1080" dirty="0"/>
          </a:p>
          <a:p>
            <a:pPr marL="228600" indent="-228600">
              <a:spcAft>
                <a:spcPts val="1100"/>
              </a:spcAft>
              <a:buSzPct val="100000"/>
              <a:buChar char="●"/>
            </a:pPr>
            <a:r>
              <a:rPr lang="en-US" sz="10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WebSockets — no real-time need identified</a:t>
            </a:r>
            <a:endParaRPr lang="en-US" sz="1080" dirty="0"/>
          </a:p>
          <a:p>
            <a:pPr marL="228600" indent="-228600">
              <a:spcAft>
                <a:spcPts val="1100"/>
              </a:spcAft>
              <a:buSzPct val="100000"/>
              <a:buChar char="●"/>
            </a:pPr>
            <a:r>
              <a:rPr lang="en-US" sz="10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CDN, load balancer, sharding — not this scale</a:t>
            </a:r>
            <a:endParaRPr lang="en-US" sz="1080" dirty="0"/>
          </a:p>
          <a:p>
            <a:pPr marL="228600" indent="-228600">
              <a:spcAft>
                <a:spcPts val="1100"/>
              </a:spcAft>
              <a:buSzPct val="100000"/>
              <a:buChar char="●"/>
            </a:pPr>
            <a:r>
              <a:rPr lang="en-US" sz="10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WCAG audit — baseline is enough for MVP</a:t>
            </a:r>
            <a:endParaRPr lang="en-US" sz="1080" dirty="0"/>
          </a:p>
        </p:txBody>
      </p:sp>
      <p:sp>
        <p:nvSpPr>
          <p:cNvPr id="16" name="Text 14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THIS MEETING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team needs to decide right now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08813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9456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12140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Role-model capacity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542032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build the full expanded role set (Women Cell, Cyber Cell, Records/NCRB Analyst, etc.) in the time left — or do some fold back into generic buckets for the demo?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108813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4160520"/>
            <a:ext cx="548640" cy="548640"/>
          </a:xfrm>
          <a:prstGeom prst="ellipse">
            <a:avLst/>
          </a:prstGeom>
          <a:solidFill>
            <a:srgbClr val="3F5C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408736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Bail-pathway data gaps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4507992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of 15 crime types have "bail pathway not yet confirmed" in the source data (some legally load-bearing, e.g. NDPS, sexual-offence classifications). Doesn't block the Domestic Violence demo — but a real gap if judges ask about other crime types.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035040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in the design doc is confirmed and buildable as-is.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ORDER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priority for this session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1848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Fabric + confirm one signed hash tx end-to-end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1848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setup risk — do this before anything else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2212848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185416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Trial/judgment endpoints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915400" y="218541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bail hearing-notice/order pattern — ~15 min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2779776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2779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752344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needs_review filter endpoint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915400" y="275234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filtered query, no new infra — ~15 min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3346704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346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31927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decision: specialized units = roles inside Police org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915400" y="331927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5-minute alignment, unblocks RBAC work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0080" y="3913632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8862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Diary feature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915400" y="38862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table + 2 endpoints — ~1-2 hrs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0080" y="448056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280160" y="445312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Records/NCRB Analyst de-identified view + endpoint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915400" y="445312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~1-2 hrs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0080" y="5047488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0080" y="5047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1280160" y="5020056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Flow 2 end-to-end (OCR → AI Parser → redaction filter)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915400" y="502005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differentiator — start early, it's the riskiest integration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0080" y="5614416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40080" y="5614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1280160" y="5586984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Recognizer-mapping config for Tier 1+2 document types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8915400" y="558698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ML-background teammate — real domain work, start now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121D33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114800"/>
            <a:ext cx="5029200" cy="5029200"/>
          </a:xfrm>
          <a:prstGeom prst="ellipse">
            <a:avLst/>
          </a:prstGeom>
          <a:solidFill>
            <a:srgbClr val="3F5C82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6517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5204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decisions needed today · everything else is confirmed and buildable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technical detail — endpoint contracts, arrow specs, state ownership — lives in the companion design document.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SIH26190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Digital Document Management System — Architecture</dc:title>
  <dc:subject>PptxGenJS Presentation</dc:subject>
  <dc:creator>SIH26190 Team</dc:creator>
  <cp:lastModifiedBy>SIH26190 Team</cp:lastModifiedBy>
  <cp:revision>1</cp:revision>
  <dcterms:created xsi:type="dcterms:W3CDTF">2026-08-30T12:23:28Z</dcterms:created>
  <dcterms:modified xsi:type="dcterms:W3CDTF">2026-08-30T12:23:28Z</dcterms:modified>
</cp:coreProperties>
</file>